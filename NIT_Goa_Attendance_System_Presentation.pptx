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
    <Relationship Id="rId1" Type="http://schemas.openxmlformats.org/package/2006/relationships/metadata/core-properties" Target="docProps/core.xml"/>
    <Relationship Id="rId2" Type="http://schemas.openxmlformats.org/officeDocument/2006/relationships/extended-properties" Target="docProps/app.xml"/>
    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1pPr>
    <a:lvl2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2pPr>
    <a:lvl3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3pPr>
    <a:lvl4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4pPr>
    <a:lvl5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5pPr>
    <a:lvl6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6pPr>
    <a:lvl7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7pPr>
    <a:lvl8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8pPr>
    <a:lvl9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  {{#authors}}
  <p:cmAuthor id="{{id}}" name="{{name}}" initials="{{initials}}" lastIdx="{{lastIdx}}" clrIdx="{{clrIdx}}"/>
    {{/authors}}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
    <Relationship Id="rId1" Type="http://schemas.openxmlformats.org/officeDocument/2006/relationships/presProps" Target="presProps.xml"/>
    <Relationship Id="rId2" Type="http://schemas.openxmlformats.org/officeDocument/2006/relationships/viewProps" Target="viewProps.xml"/>
    <Relationship Id="rId3" Type="http://schemas.openxmlformats.org/officeDocument/2006/relationships/commentAuthors" Target="commentAuthors.xml"/>
    <Relationship Id="rId4" Type="http://schemas.openxmlformats.org/officeDocument/2006/relationships/tableStyles" Target="tableStyles.xml"/>
    <Relationship Id="rId5" Type="http://schemas.openxmlformats.org/officeDocument/2006/relationships/slideMaster" Target="slideMasters/slideMaster1.xml"/>
    <Relationship Id="rId6" Type="http://schemas.openxmlformats.org/officeDocument/2006/relationships/theme" Target="theme/theme1.xml"/>
    <Relationship Id="rId7" Type="http://schemas.openxmlformats.org/officeDocument/2006/relationships/notesMaster" Target="notesMasters/notesMaster1.xml"/>
    <Relationship Id="rId8" Type="http://schemas.openxmlformats.org/officeDocument/2006/relationships/slide" Target="slides/slide1.xml"/>
    <Relationship Id="rId9" Type="http://schemas.openxmlformats.org/officeDocument/2006/relationships/slide" Target="slides/slide2.xml"/>
    <Relationship Id="rId10" Type="http://schemas.openxmlformats.org/officeDocument/2006/relationships/slide" Target="slides/slide3.xml"/>
    <Relationship Id="rId11" Type="http://schemas.openxmlformats.org/officeDocument/2006/relationships/slide" Target="slides/slide4.xml"/>
    <Relationship Id="rId12" Type="http://schemas.openxmlformats.org/officeDocument/2006/relationships/slide" Target="slides/slide5.xml"/>
    <Relationship Id="rId13" Type="http://schemas.openxmlformats.org/officeDocument/2006/relationships/slide" Target="slides/slide6.xml"/>
    <Relationship Id="rId14" Type="http://schemas.openxmlformats.org/officeDocument/2006/relationships/slide" Target="slides/slide7.xml"/>
    <Relationship Id="rId15" Type="http://schemas.openxmlformats.org/officeDocument/2006/relationships/slide" Target="slides/slide8.xml"/>
    <Relationship Id="rId16" Type="http://schemas.openxmlformats.org/officeDocument/2006/relationships/slide" Target="slides/slide9.xml"/>
    <Relationship Id="rId17" Type="http://schemas.openxmlformats.org/officeDocument/2006/relationships/slide" Target="slides/slide10.xml"/>
    <Relationship Id="rId18" Type="http://schemas.openxmlformats.org/officeDocument/2006/relationships/slide" Target="slides/slide11.xml"/>
    <Relationship Id="rId19" Type="http://schemas.openxmlformats.org/officeDocument/2006/relationships/slide" Target="slides/slide12.xml"/>
    <Relationship Id="rId20" Type="http://schemas.openxmlformats.org/officeDocument/2006/relationships/slide" Target="slides/slide13.xml"/>
</Relationships>
</file>

<file path=ppt/notesMasters/_rels/notesMaster1.xml.rels><?xml version="1.0" encoding="UTF-8"?>
<Relationships xmlns="http://schemas.openxmlformats.org/package/2006/relationships">
  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
    <Relationship Id="rId1" Type="http://schemas.openxmlformats.org/officeDocument/2006/relationships/slide" Target="../slides/slide1.xml"/>
    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
    <Relationship Id="rId1" Type="http://schemas.openxmlformats.org/officeDocument/2006/relationships/slide" Target="../slides/slide2.xml"/>
    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
    <Relationship Id="rId1" Type="http://schemas.openxmlformats.org/officeDocument/2006/relationships/slide" Target="../slides/slide3.xml"/>
    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
    <Relationship Id="rId1" Type="http://schemas.openxmlformats.org/officeDocument/2006/relationships/slide" Target="../slides/slide4.xml"/>
    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
    <Relationship Id="rId1" Type="http://schemas.openxmlformats.org/officeDocument/2006/relationships/slide" Target="../slides/slide5.xml"/>
    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
    <Relationship Id="rId1" Type="http://schemas.openxmlformats.org/officeDocument/2006/relationships/slide" Target="../slides/slide6.xml"/>
    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
    <Relationship Id="rId1" Type="http://schemas.openxmlformats.org/officeDocument/2006/relationships/slide" Target="../slides/slide7.xml"/>
    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
    <Relationship Id="rId1" Type="http://schemas.openxmlformats.org/officeDocument/2006/relationships/slide" Target="../slides/slide8.xml"/>
    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
    <Relationship Id="rId1" Type="http://schemas.openxmlformats.org/officeDocument/2006/relationships/slide" Target="../slides/slide9.xml"/>
    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
    <Relationship Id="rId1" Type="http://schemas.openxmlformats.org/officeDocument/2006/relationships/slide" Target="../slides/slide10.xml"/>
    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
    <Relationship Id="rId1" Type="http://schemas.openxmlformats.org/officeDocument/2006/relationships/slide" Target="../slides/slide11.xml"/>
    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
    <Relationship Id="rId1" Type="http://schemas.openxmlformats.org/officeDocument/2006/relationships/slide" Target="../slides/slide12.xml"/>
    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
    <Relationship Id="rId1" Type="http://schemas.openxmlformats.org/officeDocument/2006/relationships/slide" Target="../slides/slide13.xml"/>
  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project — a college-wide mobile app built with Flutter and Firebase for NIT Goa.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the pain points of traditional paper-based attendance that every college faces.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the visual comparison between the old paper system and our new digital solution.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 the solution overview — a complete digital attendance and course management system.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the system architecture — 5 user roles, Flutter frontend, Firebase backend with Auth, Firestore, and Storage.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each role and their responsibilities in the system.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Highlight each feature and explain its benefit to both faculty and students.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why each technology was chosen — Flutter for cross-platform, Firebase for serverless backend.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the complete attendance flow step by step — from marking to export.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Emphasize the tangible benefits — speed, accuracy, security, and accessibility.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the database structure and how security is enforced through Firestore rules.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 the phased development plan and timeline.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 the floor for questions from the professors.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19200" y="11986162"/>
            <a:ext cx="21945599" cy="60579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9184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14645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20106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25567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19200" y="7567579"/>
            <a:ext cx="21945600" cy="225059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4" y="4585101"/>
            <a:ext cx="9757339" cy="2540002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3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Body Level One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Body Level One…"/>
          <p:cNvSpPr txBox="1"/>
          <p:nvPr>
            <p:ph type="body" sz="half" idx="22" hasCustomPrompt="1"/>
          </p:nvPr>
        </p:nvSpPr>
        <p:spPr>
          <a:xfrm>
            <a:off x="1219199" y="4023221"/>
            <a:ext cx="9757571" cy="838468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19200" y="3242269"/>
            <a:ext cx="21945600" cy="6604002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Body Level One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Agenda Subtitle"/>
          <p:cNvSpPr txBox="1"/>
          <p:nvPr>
            <p:ph type="body" sz="quarter" idx="21" hasCustomPrompt="1"/>
          </p:nvPr>
        </p:nvSpPr>
        <p:spPr>
          <a:xfrm>
            <a:off x="1219200" y="2387114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Fact 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Body Level One…"/>
          <p:cNvSpPr txBox="1"/>
          <p:nvPr>
            <p:ph type="body" sz="half" idx="21" hasCustomPrompt="1"/>
          </p:nvPr>
        </p:nvSpPr>
        <p:spPr>
          <a:xfrm>
            <a:off x="1219200" y="4214483"/>
            <a:ext cx="21945600" cy="4269709"/>
          </a:xfrm>
          <a:prstGeom prst="rect">
            <a:avLst/>
          </a:prstGeom>
        </p:spPr>
        <p:txBody>
          <a:bodyPr anchor="b"/>
          <a:lstStyle/>
          <a:p>
            <a:pPr lvl="4" marL="0" indent="1097280" algn="ctr" defTabSz="975360">
              <a:lnSpc>
                <a:spcPct val="80000"/>
              </a:lnSpc>
              <a:spcBef>
                <a:spcPts val="0"/>
              </a:spcBef>
              <a:buSzTx/>
              <a:buNone/>
              <a:defRPr sz="896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                            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quarter" idx="1" hasCustomPrompt="1"/>
          </p:nvPr>
        </p:nvSpPr>
        <p:spPr>
          <a:xfrm>
            <a:off x="1219200" y="11100052"/>
            <a:ext cx="21945602" cy="832614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6" name="Body Level One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1700783" algn="ctr" defTabSz="1511808">
              <a:lnSpc>
                <a:spcPct val="80000"/>
              </a:lnSpc>
              <a:spcBef>
                <a:spcPts val="0"/>
              </a:spcBef>
              <a:buSzTx/>
              <a:buNone/>
              <a:defRPr sz="5208">
                <a:latin typeface="Canela Bold"/>
                <a:ea typeface="Canela Bold"/>
                <a:cs typeface="Canela Bold"/>
                <a:sym typeface="Canela Bold"/>
              </a:defRPr>
            </a:pPr>
            <a:r>
              <a:t>“Notable Quote”
                            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ea against sky at sunset 2"/>
          <p:cNvSpPr/>
          <p:nvPr>
            <p:ph type="pic" sz="quarter" idx="21"/>
          </p:nvPr>
        </p:nvSpPr>
        <p:spPr>
          <a:xfrm>
            <a:off x="15744825" y="5581751"/>
            <a:ext cx="7365408" cy="828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
    <Relationship Id="rId1" Type="http://schemas.openxmlformats.org/officeDocument/2006/relationships/theme" Target="../theme/theme1.xml"/>
    <Relationship Id="rId2" Type="http://schemas.openxmlformats.org/officeDocument/2006/relationships/slideLayout" Target="../slideLayouts/slideLayout1.xml"/>
    <Relationship Id="rId3" Type="http://schemas.openxmlformats.org/officeDocument/2006/relationships/slideLayout" Target="../slideLayouts/slideLayout2.xml"/>
    <Relationship Id="rId4" Type="http://schemas.openxmlformats.org/officeDocument/2006/relationships/slideLayout" Target="../slideLayouts/slideLayout3.xml"/>
    <Relationship Id="rId5" Type="http://schemas.openxmlformats.org/officeDocument/2006/relationships/slideLayout" Target="../slideLayouts/slideLayout4.xml"/>
    <Relationship Id="rId6" Type="http://schemas.openxmlformats.org/officeDocument/2006/relationships/slideLayout" Target="../slideLayouts/slideLayout5.xml"/>
    <Relationship Id="rId7" Type="http://schemas.openxmlformats.org/officeDocument/2006/relationships/slideLayout" Target="../slideLayouts/slideLayout6.xml"/>
    <Relationship Id="rId8" Type="http://schemas.openxmlformats.org/officeDocument/2006/relationships/slideLayout" Target="../slideLayouts/slideLayout7.xml"/>
    <Relationship Id="rId9" Type="http://schemas.openxmlformats.org/officeDocument/2006/relationships/slideLayout" Target="../slideLayouts/slideLayout8.xml"/>
    <Relationship Id="rId10" Type="http://schemas.openxmlformats.org/officeDocument/2006/relationships/slideLayout" Target="../slideLayouts/slideLayout9.xml"/>
    <Relationship Id="rId11" Type="http://schemas.openxmlformats.org/officeDocument/2006/relationships/slideLayout" Target="../slideLayouts/slideLayout10.xml"/>
    <Relationship Id="rId12" Type="http://schemas.openxmlformats.org/officeDocument/2006/relationships/slideLayout" Target="../slideLayouts/slideLayout11.xml"/>
    <Relationship Id="rId13" Type="http://schemas.openxmlformats.org/officeDocument/2006/relationships/slideLayout" Target="../slideLayouts/slideLayout12.xml"/>
    <Relationship Id="rId14" Type="http://schemas.openxmlformats.org/officeDocument/2006/relationships/slideLayout" Target="../slideLayouts/slideLayout13.xml"/>
    <Relationship Id="rId15" Type="http://schemas.openxmlformats.org/officeDocument/2006/relationships/slideLayout" Target="../slideLayouts/slideLayout14.xml"/>
    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1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1pPr>
      <a:lvl2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2pPr>
      <a:lvl3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3pPr>
      <a:lvl4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4pPr>
      <a:lvl5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5pPr>
      <a:lvl6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6pPr>
      <a:lvl7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7pPr>
      <a:lvl8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8pPr>
      <a:lvl9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9pPr>
    </p:titleStyle>
    <p:bodyStyle>
      <a:lvl1pPr marL="5461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3.xml"/>
    <Relationship Id="rId2" Type="http://schemas.openxmlformats.org/officeDocument/2006/relationships/notesSlide" Target="../notesSlides/notesSlide3.xml"/>
    <Relationship Id="rId3" Type="http://schemas.openxmlformats.org/officeDocument/2006/relationships/image" Target="../media/image2.png"/>
</Relationships>
</file>

<file path=ppt/slides/_rels/slide4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3.xml"/>
    <Relationship Id="rId2" Type="http://schemas.openxmlformats.org/officeDocument/2006/relationships/notesSlide" Target="../notesSlides/notesSlide5.xml"/>
    <Relationship Id="rId3" Type="http://schemas.openxmlformats.org/officeDocument/2006/relationships/image" Target="../media/image3.png"/>
</Relationships>
</file>

<file path=ppt/slides/_rels/slide6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3.xml"/>
    <Relationship Id="rId2" Type="http://schemas.openxmlformats.org/officeDocument/2006/relationships/notesSlide" Target="../notesSlides/notesSlide9.xml"/>
    <Relationship Id="rId3" Type="http://schemas.openxmlformats.org/officeDocument/2006/relationships/image" Target="../media/image4.png"/>
</Relationships>
</file>

<file path=ppt/slides/_rels/slide10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4.xml"/>
    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Author and Date"/>
          <p:cNvSpPr txBox="1"/>
          <p:nvPr>
            <p:ph type="body" sz="quarter" idx="1"/>
          </p:nvPr>
        </p:nvSpPr>
        <p:spPr>
          <a:xfrm>
            <a:off x="1219199" y="11986162"/>
            <a:ext cx="21945600" cy="605792"/>
          </a:xfrm>
          <a:prstGeom prst="rect">
            <a:avLst/>
          </a:prstGeom>
        </p:spPr>
        <p:txBody>
          <a:bodyPr/>
          <a:lstStyle/>
          <a:p>
            <a:pPr/>
            <a:r>
              <a:t>NIT Goa  |  Mobile Application Project</a:t>
            </a:r>
          </a:p>
        </p:txBody>
      </p:sp>
      <p:sp>
        <p:nvSpPr>
          <p:cNvPr id="152" name="Presentation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          }
          <a:p>
            <a:pPr/>
            <a:r>
              <a:t>Attendance &amp; Course
Management System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Problem</a:t>
            </a:r>
          </a:p>
        </p:txBody>
      </p:sp>
      <p:sp>
        <p:nvSpPr>
          <p:cNvPr id="154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Manual paper registers are time-consuming and error-prone</a:t>
            </a:r>
          </a:p>
          <a:p>
            <a:pPr/>
            <a:r>
              <a:t>No real-time attendance tracking or percentage calculation</a:t>
            </a:r>
          </a:p>
          <a:p>
            <a:pPr/>
            <a:r>
              <a:t>Difficult to search, filter, or export attendance data</a:t>
            </a:r>
          </a:p>
          <a:p>
            <a:pPr/>
            <a:r>
              <a:t>Registers can be lost, damaged, or tampered with</a:t>
            </a:r>
          </a:p>
          <a:p>
            <a:pPr/>
            <a:r>
              <a:t>Professors spend 10-15 minutes per class on roll calls</a:t>
            </a:r>
          </a:p>
          <a:p>
            <a:pPr/>
            <a:r>
              <a:t>Students have ZERO visibility into their attendance percentage</a:t>
            </a:r>
          </a:p>
          <a:p>
            <a:pPr/>
            <a:r>
              <a:t>End-of-semester data compilation is tedious and manual</a:t>
            </a:r>
          </a:p>
        </p:txBody>
      </p:sp>
      <p:sp>
        <p:nvSpPr>
          <p:cNvPr id="155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Challenges with Traditional Register System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Traditional vs Digital</a:t>
            </a:r>
          </a:p>
        </p:txBody>
      </p:sp>
      <p:pic>
        <p:nvPicPr>
          <p:cNvPr id="157" name="Traditional vs Digital Comparison" descr="false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58" name="SLIDE SUBTIT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complete paradigm shift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Our Solution</a:t>
            </a:r>
          </a:p>
        </p:txBody>
      </p:sp>
      <p:sp>
        <p:nvSpPr>
          <p:cNvPr id="160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Cross-platform Flutter app (Android and iOS)</a:t>
            </a:r>
          </a:p>
          <a:p>
            <a:pPr/>
            <a:r>
              <a:t>Cloud-powered with Google Firebase (real-time sync)</a:t>
            </a:r>
          </a:p>
          <a:p>
            <a:pPr/>
            <a:r>
              <a:t>Secure Google SSO — restricted to @nitgoa.ac.in</a:t>
            </a:r>
          </a:p>
          <a:p>
            <a:pPr/>
            <a:r>
              <a:t>5 role-based portals: Moderator, Admin, Professor, CR, Student</a:t>
            </a:r>
          </a:p>
          <a:p>
            <a:pPr/>
            <a:r>
              <a:t>Lecture-wise attendance with instant percentage calculation</a:t>
            </a:r>
          </a:p>
          <a:p>
            <a:pPr/>
            <a:r>
              <a:t>Downloadable reports in CSV, Excel, and PDF formats</a:t>
            </a:r>
          </a:p>
          <a:p>
            <a:pPr/>
            <a:r>
              <a:t>Works offline — syncs automatically when back online</a:t>
            </a:r>
          </a:p>
        </p:txBody>
      </p:sp>
      <p:sp>
        <p:nvSpPr>
          <p:cNvPr id="161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 role-based mobile application for NIT Goa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Architecture</a:t>
            </a:r>
          </a:p>
        </p:txBody>
      </p:sp>
      <p:pic>
        <p:nvPicPr>
          <p:cNvPr id="163" name="System Architecture Diagram" descr="false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64" name="SLIDE SUBTIT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5 roles connected through Flutter and Firebase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Role-Based Access Control</a:t>
            </a:r>
          </a:p>
        </p:txBody>
      </p:sp>
      <p:sp>
        <p:nvSpPr>
          <p:cNvPr id="166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MODERATOR — Manages branches, courses, user roles, CR assignment, semester reset</a:t>
            </a:r>
          </a:p>
          <a:p>
            <a:pPr/>
            <a:r>
              <a:t>ADMIN — Assigns professors to courses created by the Moderator</a:t>
            </a:r>
          </a:p>
          <a:p>
            <a:pPr/>
            <a:r>
              <a:t>PROFESSOR — Marks attendance, views reports, approves enrollment, downloads data</a:t>
            </a:r>
          </a:p>
          <a:p>
            <a:pPr/>
            <a:r>
              <a:t>CR (Class Rep) — Marks attendance, approves enrollment + has Student portal</a:t>
            </a:r>
          </a:p>
          <a:p>
            <a:pPr/>
            <a:r>
              <a:t>STUDENT — Enrolls in courses, views attendance percentage, manages profile</a:t>
            </a:r>
          </a:p>
        </p:txBody>
      </p:sp>
      <p:sp>
        <p:nvSpPr>
          <p:cNvPr id="167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5 distinct roles with specific permissions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169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Lecture-wise attendance (multiple sessions per day per course)</a:t>
            </a:r>
          </a:p>
          <a:p>
            <a:pPr/>
            <a:r>
              <a:t>Color-coded attendance: Green &gt;80%  |  Yellow 75-80%  |  Red &lt;75%</a:t>
            </a:r>
          </a:p>
          <a:p>
            <a:pPr/>
            <a:r>
              <a:t>Course enrollment with approval workflow (Professor or CR)</a:t>
            </a:r>
          </a:p>
          <a:p>
            <a:pPr/>
            <a:r>
              <a:t>Editable attendance records (by Professor and CR)</a:t>
            </a:r>
          </a:p>
          <a:p>
            <a:pPr/>
            <a:r>
              <a:t>First-year section support + branch-wise for Years 2-4</a:t>
            </a:r>
          </a:p>
          <a:p>
            <a:pPr/>
            <a:r>
              <a:t>Semester reset with full data archival and download</a:t>
            </a:r>
          </a:p>
          <a:p>
            <a:pPr/>
            <a:r>
              <a:t>Offline attendance marking with automatic cloud sync</a:t>
            </a:r>
          </a:p>
          <a:p>
            <a:pPr/>
            <a:r>
              <a:t>Export: day-wise, month-wise, full semester (CSV / Excel / PDF)</a:t>
            </a:r>
          </a:p>
        </p:txBody>
      </p:sp>
      <p:sp>
        <p:nvSpPr>
          <p:cNvPr id="170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makes this system powerful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Technology Stack</a:t>
            </a:r>
          </a:p>
        </p:txBody>
      </p:sp>
      <p:sp>
        <p:nvSpPr>
          <p:cNvPr id="172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Frontend  —  Flutter (Dart) for cross-platform Android + iOS</a:t>
            </a:r>
          </a:p>
          <a:p>
            <a:pPr/>
            <a:r>
              <a:t>Backend  —  Firebase (Serverless BaaS by Google)</a:t>
            </a:r>
          </a:p>
          <a:p>
            <a:pPr/>
            <a:r>
              <a:t>Auth  —  Firebase Authentication + Google Sign-In</a:t>
            </a:r>
          </a:p>
          <a:p>
            <a:pPr/>
            <a:r>
              <a:t>Database  —  Cloud Firestore (NoSQL, real-time, offline-capable)</a:t>
            </a:r>
          </a:p>
          <a:p>
            <a:pPr/>
            <a:r>
              <a:t>Storage  —  Firebase Storage for export file archives</a:t>
            </a:r>
          </a:p>
          <a:p>
            <a:pPr/>
            <a:r>
              <a:t>Offline  —  Local caching with automatic sync on reconnection</a:t>
            </a:r>
          </a:p>
          <a:p>
            <a:pPr/>
            <a:r>
              <a:t>Export  —  CSV, Excel, PDF packages for report generation</a:t>
            </a:r>
          </a:p>
          <a:p>
            <a:pPr/>
            <a:r>
              <a:t>UI  —  Google Fonts, Shimmer loading, Material Design 3</a:t>
            </a:r>
          </a:p>
        </p:txBody>
      </p:sp>
      <p:sp>
        <p:nvSpPr>
          <p:cNvPr id="173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Built with modern, production-grade technologies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Attendance Workflow</a:t>
            </a:r>
          </a:p>
        </p:txBody>
      </p:sp>
      <p:pic>
        <p:nvPicPr>
          <p:cNvPr id="175" name="Attendance Workflow Diagram" descr="false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76" name="SLIDE SUBTIT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From marking to reporting — 8 simple steps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Advantages Over Traditional System</a:t>
            </a:r>
          </a:p>
        </p:txBody>
      </p:sp>
      <p:sp>
        <p:nvSpPr>
          <p:cNvPr id="178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SPEED  —  Attendance in 2-3 min vs 10-15 min with paper</a:t>
            </a:r>
          </a:p>
          <a:p>
            <a:pPr/>
            <a:r>
              <a:t>ACCURACY  —  No miscounting, no illegible handwriting errors</a:t>
            </a:r>
          </a:p>
          <a:p>
            <a:pPr/>
            <a:r>
              <a:t>SECURITY  —  Cloud-backed, tamper-proof, role-restricted access</a:t>
            </a:r>
          </a:p>
          <a:p>
            <a:pPr/>
            <a:r>
              <a:t>ANALYTICS  —  Instant attendance %, color-coded warnings</a:t>
            </a:r>
          </a:p>
          <a:p>
            <a:pPr/>
            <a:r>
              <a:t>ACCESSIBILITY  —  Students check attendance anytime, anywhere</a:t>
            </a:r>
          </a:p>
          <a:p>
            <a:pPr/>
            <a:r>
              <a:t>EXPORTABILITY  —  Download reports in CSV / Excel / PDF instantly</a:t>
            </a:r>
          </a:p>
          <a:p>
            <a:pPr/>
            <a:r>
              <a:t>RESILIENCE  —  Works offline, no risk of lost registers</a:t>
            </a:r>
          </a:p>
          <a:p>
            <a:pPr/>
            <a:r>
              <a:t>ECO-FRIENDLY  —  Zero paper usage, fully digital workflow</a:t>
            </a:r>
          </a:p>
          <a:p>
            <a:pPr/>
            <a:r>
              <a:t>ARCHIVAL  —  Clean semester reset with systematic data backup</a:t>
            </a:r>
          </a:p>
        </p:txBody>
      </p:sp>
      <p:sp>
        <p:nvSpPr>
          <p:cNvPr id="179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9 reasons why digital is the future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Model and Security</a:t>
            </a:r>
          </a:p>
        </p:txBody>
      </p:sp>
      <p:sp>
        <p:nvSpPr>
          <p:cNvPr id="181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users  —  Profiles, roles, academic info (UID-keyed)</a:t>
            </a:r>
          </a:p>
          <a:p>
            <a:pPr/>
            <a:r>
              <a:t>branches  —  Branch definitions (ECE, CSE, ME, etc.)</a:t>
            </a:r>
          </a:p>
          <a:p>
            <a:pPr/>
            <a:r>
              <a:t>courses  —  Course catalog (branch, year, semester, professor)</a:t>
            </a:r>
          </a:p>
          <a:p>
            <a:pPr/>
            <a:r>
              <a:t>enrollments  —  Student-to-Course mappings (approved)</a:t>
            </a:r>
          </a:p>
          <a:p>
            <a:pPr/>
            <a:r>
              <a:t>enrollmentRequests  —  Pending join requests with status tracking</a:t>
            </a:r>
          </a:p>
          <a:p>
            <a:pPr/>
            <a:r>
              <a:t>attendanceSessions  —  Lecture sessions with present/absent stats</a:t>
            </a:r>
          </a:p>
          <a:p>
            <a:pPr/>
            <a:r>
              <a:t>records (sub-collection)  —  Individual student attendance per lecture</a:t>
            </a:r>
          </a:p>
          <a:p>
            <a:pPr/>
            <a:r>
              <a:t>Firestore Security Rules  —  Strict role-based read/write enforcement</a:t>
            </a:r>
          </a:p>
        </p:txBody>
      </p:sp>
      <p:sp>
        <p:nvSpPr>
          <p:cNvPr id="182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Cloud Firestore — 7 collections with role-based security rules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Development Roadmap</a:t>
            </a:r>
          </a:p>
        </p:txBody>
      </p:sp>
      <p:sp>
        <p:nvSpPr>
          <p:cNvPr id="184" name="SLIDE 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Phase 1  —  Foundation: Flutter + Firebase setup, Auth, Role routing</a:t>
            </a:r>
          </a:p>
          <a:p>
            <a:pPr/>
            <a:r>
              <a:t>Phase 2  —  Moderator Portal: Branches, Courses, Roles, CR assignment</a:t>
            </a:r>
          </a:p>
          <a:p>
            <a:pPr/>
            <a:r>
              <a:t>Phase 3  —  Admin Portal: Professor-to-Course assignment</a:t>
            </a:r>
          </a:p>
          <a:p>
            <a:pPr/>
            <a:r>
              <a:t>Phase 4  —  Professor Portal: Mark / Edit / View attendance, Approvals</a:t>
            </a:r>
          </a:p>
          <a:p>
            <a:pPr/>
            <a:r>
              <a:t>Phase 5  —  CR Portal: Attendance + Enrollment handling</a:t>
            </a:r>
          </a:p>
          <a:p>
            <a:pPr/>
            <a:r>
              <a:t>Phase 6  —  Student Portal: Browse courses, Apply, View attendance</a:t>
            </a:r>
          </a:p>
          <a:p>
            <a:pPr/>
            <a:r>
              <a:t>Phase 7  —  Advanced: Offline sync, Export (CSV/Excel/PDF), Semester reset</a:t>
            </a:r>
          </a:p>
          <a:p>
            <a:pPr/>
            <a:r>
              <a:t>Phase 8  —  Polish: UI/UX refinement, Testing, Performance optimization</a:t>
            </a:r>
          </a:p>
        </p:txBody>
      </p:sp>
      <p:sp>
        <p:nvSpPr>
          <p:cNvPr id="185" name="Slide Subtit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8-phase approach from foundation to deployment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Author and Date"/>
          <p:cNvSpPr txBox="1"/>
          <p:nvPr>
            <p:ph type="body" sz="quarter" idx="1"/>
          </p:nvPr>
        </p:nvSpPr>
        <p:spPr>
          <a:xfrm>
            <a:off x="1219199" y="11986162"/>
            <a:ext cx="21945600" cy="605792"/>
          </a:xfrm>
          <a:prstGeom prst="rect">
            <a:avLst/>
          </a:prstGeom>
        </p:spPr>
        <p:txBody>
          <a:bodyPr/>
          <a:lstStyle/>
          <a:p>
            <a:pPr/>
            <a:r>
              <a:t>Questions &amp; Discussion</a:t>
            </a:r>
          </a:p>
        </p:txBody>
      </p:sp>
      <p:sp>
        <p:nvSpPr>
          <p:cNvPr id="187" name="Presentation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          }
          <a:p>
            <a:pPr/>
            <a:r>
              <a:t>Thank You</a:t>
            </a:r>
          </a:p>
        </p:txBody>
      </p:sp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2064491" y="12700001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Office Theme</vt:lpstr>
      <vt:lpstr>Title</vt:lpstr>
      <vt:lpstr>Title and Bullets</vt:lpstr>
      <vt:lpstr>Title and Photo Alt</vt:lpstr>
      <vt:lpstr>Title and Bullets</vt:lpstr>
      <vt:lpstr>Title and Photo Alt</vt:lpstr>
      <vt:lpstr>Title and Bullets</vt:lpstr>
      <vt:lpstr>Title and Bullets</vt:lpstr>
      <vt:lpstr>Title and Bullets</vt:lpstr>
      <vt:lpstr>Title and Photo Alt</vt:lpstr>
      <vt:lpstr>Title and Bullets</vt:lpstr>
      <vt:lpstr>Title and Bullets</vt:lpstr>
      <vt:lpstr>Title and Bullets</vt:lpstr>
      <vt:lpstr>Title</vt:lpstr>
    </vt:vector>
  </TitlesOfParts>
  <Company>NIT Goa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 Goa - Attendance &amp; Course Management System</dc:title>
  <dc:subject>College-wide Mobile Application</dc:subject>
  <dc:creator>NIT Goa</dc:creator>
  <cp:lastModifiedBy>NIT Goa</cp:lastModifiedBy>
  <dcterms:created xsi:type="dcterms:W3CDTF">2026-10-06T20:12:01.819619</dcterms:created>
  <dcterms:modified xsi:type="dcterms:W3CDTF">2026-10-06T20:12:01.819619</dcterms:modified>
</cp:coreProperties>
</file>